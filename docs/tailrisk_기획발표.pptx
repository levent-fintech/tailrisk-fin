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시작 연도</c:v>
                </c:pt>
              </c:strCache>
            </c:strRef>
          </c:tx>
          <c:spPr>
            <a:solidFill>
              <a:srgbClr val="2A9D8F"/>
            </a:solidFill>
          </c:spPr>
          <c:cat>
            <c:strRef>
              <c:f>Sheet1!$A$2:$A$8</c:f>
              <c:strCache>
                <c:ptCount val="7"/>
                <c:pt idx="0">
                  <c:v>S&amp;P500·KOSPI·VIX·DXY·금리</c:v>
                </c:pt>
                <c:pt idx="1">
                  <c:v>MOVE·TLT·IEF·LQD</c:v>
                </c:pt>
                <c:pt idx="2">
                  <c:v>달러원 (야후)</c:v>
                </c:pt>
                <c:pt idx="3">
                  <c:v>금 (GLD)</c:v>
                </c:pt>
                <c:pt idx="4">
                  <c:v>VIX 3개월</c:v>
                </c:pt>
                <c:pt idx="5">
                  <c:v>하이일드 (HYG)</c:v>
                </c:pt>
                <c:pt idx="6">
                  <c:v>VIX 9일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2000</c:v>
                </c:pt>
                <c:pt idx="1">
                  <c:v>2002</c:v>
                </c:pt>
                <c:pt idx="2">
                  <c:v>2003</c:v>
                </c:pt>
                <c:pt idx="3">
                  <c:v>2004</c:v>
                </c:pt>
                <c:pt idx="4">
                  <c:v>2006</c:v>
                </c:pt>
                <c:pt idx="5">
                  <c:v>2007</c:v>
                </c:pt>
                <c:pt idx="6">
                  <c:v>2011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1995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무엇을 묻고, 어떻게 검증하고, 어떤 일정으로 진행하는지를 설명합니다. 결과 발표가 아니라 기획 발표입니다.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변동성 군집은 실증적으로 잘 알려진 성질입니다. 불안한 날 뒤에 불안한 날이 온다는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하나를 둘로 나눠 검증합니다. 1번이 안 되면 2번도 의미가 약해집니다. 그래서 중단 규칙을 1번 기준으로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배분 규칙은 단순합니다. 목표 위험을 예측 변동성으로 나눈 값이 비중입니다. 예를 들어 목표 10%인데 예측이 20%면 비중은 절반입니다.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HAR-RV는 일·주·월 변동성을 섞어 쓰는 단순 회귀입니다. GARCH는 어제 충격이 오늘 변동성을 키우는 구조를 모델링합니다. 둘 다 오래 검증된 기준선입니다.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범위를 줄인 것이 이번 기획의 핵심 결정입니다. 기한 안에 질문 하나를 끝까지 답하는 쪽을 택했습니다.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일정과 무관하게 필요한 데이터를 전부 모으기로 결정했습니다. 하이일드 스프레드는 FRED 정책상 최근 3년만 있어 무디스 스프레드와 HYG/IEF 비율로 대체합니다.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미래 원자료를 잘라내도 과거 예측이 변하지 않는지 테스트로 확인합니다. 이 테스트가 누수 방지의 증거입니다.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피처를 두 단계로 나눈 이유는 늦게 시작하는 신호가 정말 도움이 되는지 따로 재기 위해서입니다.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MLOps는 핵심 결과가 나온 뒤에 감쌉니다. Windows라 Airflow는 Docker가 필요하고, 부담이 크면 Prefect로 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10월 12일까지 HAR-RV 대 LightGBM 비교가 안 나오면 배분과 DAG를 줄이고 비교만 끝내는 중단 규칙을 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LightGBM이 지는 결과도 의미 있는 결과로 기록합니다. 질문에 정직하게 답하는 것이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1">
                <a:solidFill>
                  <a:srgbClr val="FFFFFF"/>
                </a:solidFill>
                <a:latin typeface="맑은 고딕"/>
              </a:rPr>
              <a:t>tailrisk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0">
                <a:solidFill>
                  <a:srgbClr val="B8C4D6"/>
                </a:solidFill>
                <a:latin typeface="맑은 고딕"/>
              </a:rPr>
              <a:t>변동성 급등을 앞서 감지하고, 비중을 조절하는 리스크 타겟팅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D64550"/>
                </a:solidFill>
                <a:latin typeface="맑은 고딕"/>
              </a:rPr>
              <a:t>LightGBM은 HAR-RV와 GARCH를 이길 수 있을까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B8C4D6"/>
                </a:solidFill>
                <a:latin typeface="맑은 고딕"/>
              </a:rPr>
              <a:t>기획 발표  |  2026.10  |  기한 10.19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B78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4213D"/>
                </a:solidFill>
                <a:latin typeface="맑은 고딕"/>
              </a:rPr>
              <a:t>폭락은 한꺼번에 오고, 고정 비중은 그때 가장 아프다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B6B78"/>
                </a:solidFill>
                <a:latin typeface="맑은 고딕"/>
              </a:rPr>
              <a:t>변동성은 군집한다: 흔들리는 시기가 이어진다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303520" cy="40233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5B6B78"/>
                </a:solidFill>
                <a:latin typeface="맑은 고딕"/>
              </a:rPr>
              <a:t>고정 비중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7548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B2630"/>
                </a:solidFill>
                <a:latin typeface="맑은 고딕"/>
              </a:rPr>
              <a:t>주식 60, 채권 40처럼 비중을 정해 두고 유지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B2630"/>
                </a:solidFill>
                <a:latin typeface="맑은 고딕"/>
              </a:rPr>
              <a:t>시장이 조용하든 요동치든 같은 크기로 위험을 진다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B2630"/>
                </a:solidFill>
                <a:latin typeface="맑은 고딕"/>
              </a:rPr>
              <a:t>급락기에 위험이 가장 커져 최대낙폭이 깊어진다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920240"/>
            <a:ext cx="5303520" cy="402336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1488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D64550"/>
                </a:solidFill>
                <a:latin typeface="맑은 고딕"/>
              </a:rPr>
              <a:t>리스크 타겟팅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834640"/>
            <a:ext cx="47548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</a:rPr>
              <a:t>앞으로의 변동성을 예측해 위험 크기를 일정하게 맞춤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</a:rPr>
              <a:t>변동성이 클 것 같으면 비중을 줄이고, 작을 것 같으면 늘림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</a:rPr>
              <a:t>핵심은 예측이 얼마나 정확한가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B78"/>
                </a:solidFill>
                <a:latin typeface="맑은 고딕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4213D"/>
                </a:solidFill>
                <a:latin typeface="맑은 고딕"/>
              </a:rPr>
              <a:t>질문은 두 개이고, 하나로 이어진다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03520" cy="38404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19" y="2011680"/>
            <a:ext cx="548640" cy="54864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20116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0312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4213D"/>
                </a:solidFill>
                <a:latin typeface="맑은 고딕"/>
              </a:rPr>
              <a:t>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926080"/>
            <a:ext cx="4663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B2630"/>
                </a:solidFill>
                <a:latin typeface="맑은 고딕"/>
              </a:rPr>
              <a:t>LightGBM이 HAR-RV와 GARCH보다 앞으로 20영업일 실현변동성을 더 잘 맞히는가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47548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78"/>
                </a:solidFill>
                <a:latin typeface="맑은 고딕"/>
              </a:rPr>
              <a:t>지표: QLIKE (보조 MSE)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303520" cy="38404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59" y="2011680"/>
            <a:ext cx="548640" cy="548640"/>
          </a:xfrm>
          <a:prstGeom prst="ellipse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20116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10312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4213D"/>
                </a:solidFill>
                <a:latin typeface="맑은 고딕"/>
              </a:rPr>
              <a:t>배분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926080"/>
            <a:ext cx="4663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B2630"/>
                </a:solidFill>
                <a:latin typeface="맑은 고딕"/>
              </a:rPr>
              <a:t>그 예측으로 목표 변동성(연 10%) 배분을 하면 고정 비중보다 최대낙폭이 줄어드는가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47548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78"/>
                </a:solidFill>
                <a:latin typeface="맑은 고딕"/>
              </a:rPr>
              <a:t>지표: 최대낙폭 (보조 샤프, 회전율)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B78"/>
                </a:solidFill>
                <a:latin typeface="맑은 고딕"/>
              </a:rPr>
              <a:t>실현변동성: 최근 일별 수익률의 흔들림 크기를 연율로 환산한 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B78"/>
                </a:solidFill>
                <a:latin typeface="맑은 고딕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4213D"/>
                </a:solidFill>
                <a:latin typeface="맑은 고딕"/>
              </a:rPr>
              <a:t>데이터에서 비중까지 한 줄로 이어진다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B6B78"/>
                </a:solidFill>
                <a:latin typeface="맑은 고딕"/>
              </a:rPr>
              <a:t>비중 = 목표 변동성 10% ÷ 예측 변동성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1645920" cy="18288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4213D"/>
                </a:solidFill>
                <a:latin typeface="맑은 고딕"/>
              </a:rPr>
              <a:t>수집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B6B78"/>
                </a:solidFill>
                <a:latin typeface="맑은 고딕"/>
              </a:rPr>
              <a:t>야후·FRED·ECOS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92608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D64550"/>
                </a:solidFill>
                <a:latin typeface="맑은 고딕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2286000"/>
            <a:ext cx="1645920" cy="18288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4327" y="256032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4213D"/>
                </a:solidFill>
                <a:latin typeface="맑은 고딕"/>
              </a:rPr>
              <a:t>피처·라벨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7" y="32004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B6B78"/>
                </a:solidFill>
                <a:latin typeface="맑은 고딕"/>
              </a:rPr>
              <a:t>시점별 값만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7" y="292608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D64550"/>
                </a:solidFill>
                <a:latin typeface="맑은 고딕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2286000"/>
            <a:ext cx="1645920" cy="18288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256032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모델 3종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32004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B8C4D6"/>
                </a:solidFill>
                <a:latin typeface="맑은 고딕"/>
              </a:rPr>
              <a:t>HAR·GARCH·LGBM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0176" y="292608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D64550"/>
                </a:solidFill>
                <a:latin typeface="맑은 고딕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286000"/>
            <a:ext cx="1645920" cy="18288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256032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4213D"/>
                </a:solidFill>
                <a:latin typeface="맑은 고딕"/>
              </a:rPr>
              <a:t>예측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32004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B6B78"/>
                </a:solidFill>
                <a:latin typeface="맑은 고딕"/>
              </a:rPr>
              <a:t>20일 변동성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4" y="292608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D64550"/>
                </a:solidFill>
                <a:latin typeface="맑은 고딕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2286000"/>
            <a:ext cx="1645920" cy="18288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256032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비중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32004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B8C4D6"/>
                </a:solidFill>
                <a:latin typeface="맑은 고딕"/>
              </a:rPr>
              <a:t>목표 10% 맞춤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292608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D64550"/>
                </a:solidFill>
                <a:latin typeface="맑은 고딕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19" y="2286000"/>
            <a:ext cx="1645920" cy="18288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256032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4213D"/>
                </a:solidFill>
                <a:latin typeface="맑은 고딕"/>
              </a:rPr>
              <a:t>비교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2004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B6B78"/>
                </a:solidFill>
                <a:latin typeface="맑은 고딕"/>
              </a:rPr>
              <a:t>고정 비중 대비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7548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630"/>
                </a:solidFill>
                <a:latin typeface="맑은 고딕"/>
              </a:rPr>
              <a:t>자산마다 독립된 모델과 독립된 타겟팅을 씁니다.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630"/>
                </a:solidFill>
                <a:latin typeface="맑은 고딕"/>
              </a:rPr>
              <a:t>비용은 왕복 10bp(0.1%)로 가정해 배분 단계에서 반영합니다.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B78"/>
                </a:solidFill>
                <a:latin typeface="맑은 고딕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4213D"/>
                </a:solidFill>
                <a:latin typeface="맑은 고딕"/>
              </a:rPr>
              <a:t>단순한 기준선 둘에 머신러닝 하나를 붙인다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474720" cy="393192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5B6B78"/>
                </a:solidFill>
                <a:latin typeface="맑은 고딕"/>
              </a:rPr>
              <a:t>기준선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4213D"/>
                </a:solidFill>
                <a:latin typeface="맑은 고딕"/>
              </a:rPr>
              <a:t>HAR-RV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2926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2630"/>
                </a:solidFill>
                <a:latin typeface="맑은 고딕"/>
              </a:rPr>
              <a:t>최근 하루·1주·1달 변동성을 섞어 앞날을 예측하는 단순 회귀. 금융에서 가장 강한 기본기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474720" cy="393192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65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5B6B78"/>
                </a:solidFill>
                <a:latin typeface="맑은 고딕"/>
              </a:rPr>
              <a:t>기준선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2316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4213D"/>
                </a:solidFill>
                <a:latin typeface="맑은 고딕"/>
              </a:rPr>
              <a:t>GARCH(1,1)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46120"/>
            <a:ext cx="2926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2630"/>
                </a:solidFill>
                <a:latin typeface="맑은 고딕"/>
              </a:rPr>
              <a:t>어제의 충격과 어제의 변동성으로 오늘의 변동성을 설명하는 통계 모델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737360"/>
            <a:ext cx="3474720" cy="393192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65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64550"/>
                </a:solidFill>
                <a:latin typeface="맑은 고딕"/>
              </a:rPr>
              <a:t>도전자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42316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4213D"/>
                </a:solidFill>
                <a:latin typeface="맑은 고딕"/>
              </a:rPr>
              <a:t>LightGBM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46120"/>
            <a:ext cx="2926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2630"/>
                </a:solidFill>
                <a:latin typeface="맑은 고딕"/>
              </a:rPr>
              <a:t>VIX, 금리, 신용스프레드 등 많은 신호를 한꺼번에 쓰는 트리 기반 머신러닝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B78"/>
                </a:solidFill>
                <a:latin typeface="맑은 고딕"/>
              </a:rPr>
              <a:t>LSTM은 하지 않습니다. QLIKE: 변동성 예측 오차를 재는 지표로 낮을수록 좋습니다.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B78"/>
                </a:solidFill>
                <a:latin typeface="맑은 고딕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4213D"/>
                </a:solidFill>
                <a:latin typeface="맑은 고딕"/>
              </a:rPr>
              <a:t>범위를 좁혀서 질문 하나에 끝까지 답한다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A9D8F"/>
                </a:solidFill>
                <a:latin typeface="맑은 고딕"/>
              </a:rPr>
              <a:t>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47548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630"/>
                </a:solidFill>
                <a:latin typeface="맑은 고딕"/>
              </a:rPr>
              <a:t>자산 5개: S&amp;P500, KOSPI, 미국 장기채(TLT), 금(GLD), 달러원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630"/>
                </a:solidFill>
                <a:latin typeface="맑은 고딕"/>
              </a:rPr>
              <a:t>회귀 하나: 20영업일 실현변동성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630"/>
                </a:solidFill>
                <a:latin typeface="맑은 고딕"/>
              </a:rPr>
              <a:t>모델 3개, 지표 2개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630"/>
                </a:solidFill>
                <a:latin typeface="맑은 고딕"/>
              </a:rPr>
              <a:t>MLflow로 폴드별 실험 기록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73736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D64550"/>
                </a:solidFill>
                <a:latin typeface="맑은 고딕"/>
              </a:rPr>
              <a:t>하지 않는다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651760"/>
            <a:ext cx="47548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630"/>
                </a:solidFill>
                <a:latin typeface="맑은 고딕"/>
              </a:rPr>
              <a:t>LSTM 등 딥러닝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630"/>
                </a:solidFill>
                <a:latin typeface="맑은 고딕"/>
              </a:rPr>
              <a:t>VaR 백테스트 (Kupiec 등)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630"/>
                </a:solidFill>
                <a:latin typeface="맑은 고딕"/>
              </a:rPr>
              <a:t>레짐 진입 분류: 회귀 결과를 임계값으로 자른 부록으로만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630"/>
                </a:solidFill>
                <a:latin typeface="맑은 고딕"/>
              </a:rPr>
              <a:t>여러 문제를 동시에 푸는 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B78"/>
                </a:solidFill>
                <a:latin typeface="맑은 고딕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4213D"/>
                </a:solidFill>
                <a:latin typeface="맑은 고딕"/>
              </a:rPr>
              <a:t>2000년부터 약 50개 열을 하나의 일별 표로 모았다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B6B78"/>
                </a:solidFill>
                <a:latin typeface="맑은 고딕"/>
              </a:rPr>
              <a:t>달력은 S&amp;P500 거래일, 2000-01-03부터. 수집 완료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828800"/>
          <a:ext cx="676656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828800"/>
            <a:ext cx="3749039" cy="42976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57400"/>
            <a:ext cx="3200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B2630"/>
                </a:solidFill>
                <a:latin typeface="맑은 고딕"/>
              </a:rPr>
              <a:t>출처 세 곳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B2630"/>
                </a:solidFill>
                <a:latin typeface="맑은 고딕"/>
              </a:rPr>
              <a:t>야후: 자산 5종, VIX 기간구조, MOVE, 달러지수, 신용 ETF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B2630"/>
                </a:solidFill>
                <a:latin typeface="맑은 고딕"/>
              </a:rPr>
              <a:t>FRED: 금리, 무디스 신용스프레드 (API 키 경로)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B2630"/>
                </a:solidFill>
                <a:latin typeface="맑은 고딕"/>
              </a:rPr>
              <a:t>ECOS: 국고채, CD, 기준금리, 외국인 순매수, 원달러 15:30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B78"/>
                </a:solidFill>
                <a:latin typeface="맑은 고딕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4213D"/>
                </a:solidFill>
                <a:latin typeface="맑은 고딕"/>
              </a:rPr>
              <a:t>미래 정보를 쓰지 않는 것이 첫째 원칙이다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4213D"/>
                </a:solidFill>
                <a:latin typeface="맑은 고딕"/>
              </a:rPr>
              <a:t>t 시점엔 t까지만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2630"/>
                </a:solidFill>
                <a:latin typeface="맑은 고딕"/>
              </a:rPr>
              <a:t>FRED는 1영업일 지연을 일괄 적용. 한국 지표는 당일 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4213D"/>
                </a:solidFill>
                <a:latin typeface="맑은 고딕"/>
              </a:rPr>
              <a:t>학습 표본은 끝난 것만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51460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2630"/>
                </a:solidFill>
                <a:latin typeface="맑은 고딕"/>
              </a:rPr>
              <a:t>목표 구간이 t 이전에 끝난 시점(s ≤ t-20)만 학습에 사용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4213D"/>
                </a:solidFill>
                <a:latin typeface="맑은 고딕"/>
              </a:rPr>
              <a:t>walk-forward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2630"/>
                </a:solidFill>
                <a:latin typeface="맑은 고딕"/>
              </a:rPr>
              <a:t>2010-01부터, 확장 윈도우, 5영업일 간격 예측, 약 6개월마다 재학습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4213D"/>
                </a:solidFill>
                <a:latin typeface="맑은 고딕"/>
              </a:rPr>
              <a:t>테스트로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80060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2630"/>
                </a:solidFill>
                <a:latin typeface="맑은 고딕"/>
              </a:rPr>
              <a:t>미래 원자료를 잘라내도 과거 예측이 같은지 자동 검증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B78"/>
                </a:solidFill>
                <a:latin typeface="맑은 고딕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4213D"/>
                </a:solidFill>
                <a:latin typeface="맑은 고딕"/>
              </a:rPr>
              <a:t>피처는 두 단계로 넣어 기여를 따로 잰다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03520" cy="40233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5740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4213D"/>
                </a:solidFill>
                <a:latin typeface="맑은 고딕"/>
              </a:rPr>
              <a:t>1차: 2000년부터 있는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7548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630"/>
                </a:solidFill>
                <a:latin typeface="맑은 고딕"/>
              </a:rPr>
              <a:t>자산별 실현변동성·수익률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630"/>
                </a:solidFill>
                <a:latin typeface="맑은 고딕"/>
              </a:rPr>
              <a:t>VIX, 달러지수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630"/>
                </a:solidFill>
                <a:latin typeface="맑은 고딕"/>
              </a:rPr>
              <a:t>미국·한국 금리, 무디스 스프레드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630"/>
                </a:solidFill>
                <a:latin typeface="맑은 고딕"/>
              </a:rPr>
              <a:t>달러원 15:30 종가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737360"/>
            <a:ext cx="5303520" cy="402336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19672" y="1965960"/>
            <a:ext cx="548640" cy="548640"/>
          </a:xfrm>
          <a:prstGeom prst="ellipse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9659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205740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2차: 늦게 시작하는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834640"/>
            <a:ext cx="47548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HYG/IEF 신용 비율 (2007~)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VIX 3개월, MOVE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외국인 순매수 (2003~)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VIX 9일은 본 실험 제외, 부록 비교만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B78"/>
                </a:solidFill>
                <a:latin typeface="맑은 고딕"/>
              </a:rPr>
              <a:t>모든 피처는 t 시점에 알 수 있는 값만 사용합니다.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B78"/>
                </a:solidFill>
                <a:latin typeface="맑은 고딕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4213D"/>
                </a:solidFill>
                <a:latin typeface="맑은 고딕"/>
              </a:rPr>
              <a:t>실험은 기록하고, 마지막에 일별 파이프라인으로 감싼다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03520" cy="40233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4213D"/>
                </a:solidFill>
                <a:latin typeface="맑은 고딕"/>
              </a:rPr>
              <a:t>MLflow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47548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630"/>
                </a:solidFill>
                <a:latin typeface="맑은 고딕"/>
              </a:rPr>
              <a:t>폴드별 run을 기록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630"/>
                </a:solidFill>
                <a:latin typeface="맑은 고딕"/>
              </a:rPr>
              <a:t>모델, 피처 묶음, QLIKE를 한 곳에서 비교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630"/>
                </a:solidFill>
                <a:latin typeface="맑은 고딕"/>
              </a:rPr>
              <a:t>나중에 같은 결과를 다시 만들 수 있게 남김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737360"/>
            <a:ext cx="5303520" cy="402336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일별 DAG (Airflow 또는 Prefect)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19672" y="2926080"/>
            <a:ext cx="10515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926080"/>
            <a:ext cx="1051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4213D"/>
                </a:solidFill>
                <a:latin typeface="맑은 고딕"/>
              </a:rPr>
              <a:t>수집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54112" y="2926080"/>
            <a:ext cx="10515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54112" y="2926080"/>
            <a:ext cx="1051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4213D"/>
                </a:solidFill>
                <a:latin typeface="맑은 고딕"/>
              </a:rPr>
              <a:t>피처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552" y="2926080"/>
            <a:ext cx="10515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2926080"/>
            <a:ext cx="1051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4213D"/>
                </a:solidFill>
                <a:latin typeface="맑은 고딕"/>
              </a:rPr>
              <a:t>예측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22992" y="2926080"/>
            <a:ext cx="10515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22992" y="2926080"/>
            <a:ext cx="1051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4213D"/>
                </a:solidFill>
                <a:latin typeface="맑은 고딕"/>
              </a:rPr>
              <a:t>비중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411480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B8C4D6"/>
                </a:solidFill>
                <a:latin typeface="맑은 고딕"/>
              </a:rPr>
              <a:t>핵심 결과 뒤에 감싸기만 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B78"/>
                </a:solidFill>
                <a:latin typeface="맑은 고딕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4213D"/>
                </a:solidFill>
                <a:latin typeface="맑은 고딕"/>
              </a:rPr>
              <a:t>10월 19일까지, 비교를 먼저 끝낸다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B6B78"/>
                </a:solidFill>
                <a:latin typeface="맑은 고딕"/>
              </a:rPr>
              <a:t>10월 12일까지 모델 비교가 안 나오면 배분과 DAG를 줄이고 비교만 마무리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881360" cy="521207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64592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4213D"/>
                </a:solidFill>
                <a:latin typeface="맑은 고딕"/>
              </a:rPr>
              <a:t>10/08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828800"/>
            <a:ext cx="694944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4213D"/>
                </a:solidFill>
                <a:latin typeface="맑은 고딕"/>
              </a:rPr>
              <a:t>뼈대, 데이터 수집, 패널 규칙 테스트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828800"/>
            <a:ext cx="137160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400" b="1">
                <a:solidFill>
                  <a:srgbClr val="2A9D8F"/>
                </a:solidFill>
                <a:latin typeface="맑은 고딕"/>
              </a:rPr>
              <a:t>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41448"/>
            <a:ext cx="10881360" cy="521207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41448"/>
            <a:ext cx="164592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4213D"/>
                </a:solidFill>
                <a:latin typeface="맑은 고딕"/>
              </a:rPr>
              <a:t>10/09~10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41448"/>
            <a:ext cx="694944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4213D"/>
                </a:solidFill>
                <a:latin typeface="맑은 고딕"/>
              </a:rPr>
              <a:t>피처·라벨, walk-forward 틀, HAR-RV 기준선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441448"/>
            <a:ext cx="137160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400" b="1">
                <a:solidFill>
                  <a:srgbClr val="D64550"/>
                </a:solidFill>
                <a:latin typeface="맑은 고딕"/>
              </a:rPr>
              <a:t>진행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54096"/>
            <a:ext cx="10881360" cy="521207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54096"/>
            <a:ext cx="164592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D64550"/>
                </a:solidFill>
                <a:latin typeface="맑은 고딕"/>
              </a:rPr>
              <a:t>10/11~12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054096"/>
            <a:ext cx="694944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GARCH, LightGBM, MLflow 기록 시작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054096"/>
            <a:ext cx="137160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400" b="1">
                <a:solidFill>
                  <a:srgbClr val="D64550"/>
                </a:solidFill>
                <a:latin typeface="맑은 고딕"/>
              </a:rPr>
              <a:t>다음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66744"/>
            <a:ext cx="10881360" cy="521207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66744"/>
            <a:ext cx="164592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4213D"/>
                </a:solidFill>
                <a:latin typeface="맑은 고딕"/>
              </a:rPr>
              <a:t>10/13~14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666744"/>
            <a:ext cx="694944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4213D"/>
                </a:solidFill>
                <a:latin typeface="맑은 고딕"/>
              </a:rPr>
              <a:t>변동성 타겟 배분, 고정 비중 비교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79392"/>
            <a:ext cx="10881360" cy="521207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79392"/>
            <a:ext cx="164592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4213D"/>
                </a:solidFill>
                <a:latin typeface="맑은 고딕"/>
              </a:rPr>
              <a:t>10/15~16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279392"/>
            <a:ext cx="694944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4213D"/>
                </a:solidFill>
                <a:latin typeface="맑은 고딕"/>
              </a:rPr>
              <a:t>일별 DAG로 감싸기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92040"/>
            <a:ext cx="10881360" cy="521207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164592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4213D"/>
                </a:solidFill>
                <a:latin typeface="맑은 고딕"/>
              </a:rPr>
              <a:t>10/17~18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892040"/>
            <a:ext cx="694944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4213D"/>
                </a:solidFill>
                <a:latin typeface="맑은 고딕"/>
              </a:rPr>
              <a:t>문서, 그림, 재현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504688"/>
            <a:ext cx="10881360" cy="521207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504688"/>
            <a:ext cx="164592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4213D"/>
                </a:solidFill>
                <a:latin typeface="맑은 고딕"/>
              </a:rPr>
              <a:t>10/19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504688"/>
            <a:ext cx="694944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4213D"/>
                </a:solidFill>
                <a:latin typeface="맑은 고딕"/>
              </a:rPr>
              <a:t>여유분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B78"/>
                </a:solidFill>
                <a:latin typeface="맑은 고딕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미리 밝혀 두는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맑은 고딕"/>
              </a:rPr>
              <a:t>야후 데이터는 과거 수정이 있을 수 있어 완전 재현을 보장하지 못합니다.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맑은 고딕"/>
              </a:rPr>
              <a:t>FRED 지연을 1영업일로 일괄 적용했지만, 실제 발표 시각은 지표마다 다릅니다.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맑은 고딕"/>
              </a:rPr>
              <a:t>거래비용은 배분 단계에서 왕복 10bp 가정으로만 반영합니다.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맑은 고딕"/>
              </a:rPr>
              <a:t>하이일드 스프레드 원계열은 최근 3년뿐이라 대용 지표를 씁니다.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D64550"/>
                </a:solidFill>
                <a:latin typeface="맑은 고딕"/>
              </a:rPr>
              <a:t>LightGBM이 이기든 지든, 기준선과 같은 조건에서 비교한 결과를 그대로 기록합니다.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